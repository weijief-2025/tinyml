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70" r:id="rId2"/>
    <p:sldId id="849" r:id="rId3"/>
    <p:sldId id="846" r:id="rId4"/>
    <p:sldId id="839" r:id="rId5"/>
    <p:sldId id="885" r:id="rId6"/>
    <p:sldId id="904" r:id="rId7"/>
    <p:sldId id="90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0FF"/>
    <a:srgbClr val="0432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 autoAdjust="0"/>
    <p:restoredTop sz="94726"/>
  </p:normalViewPr>
  <p:slideViewPr>
    <p:cSldViewPr snapToGrid="0">
      <p:cViewPr varScale="1">
        <p:scale>
          <a:sx n="120" d="100"/>
          <a:sy n="120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D8218-6B7C-4CA4-A61E-FD2FD7C8F54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23114-1526-4356-BAFF-48CC8CB7B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CC10D-3F48-FE47-AED5-4497A9B141F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6390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CC10D-3F48-FE47-AED5-4497A9B141F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5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CC10D-3F48-FE47-AED5-4497A9B141F7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0704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CC10D-3F48-FE47-AED5-4497A9B141F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4291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CC10D-3F48-FE47-AED5-4497A9B141F7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0332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5C60-C1CB-DE8A-884A-954D3F7D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5B57D0-24C9-36FE-EFDE-98C292249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A23B3C-F732-7766-E830-38409923C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EFFB85-711E-A2E1-3DDE-CF1CF1E76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CC10D-3F48-FE47-AED5-4497A9B141F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4973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049E-AA74-7FB0-1285-0AE6A999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F6333-DA3E-20DC-B366-F0FB717E4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BC33B4-71F0-6E82-4A5E-C29C230BF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879F5-6633-4861-778C-2502310B2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CC10D-3F48-FE47-AED5-4497A9B141F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779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1289-9D29-4263-8FEC-C590740DE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0DD75-902F-41F0-A601-3E73B312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011EC-5A48-41A3-B0CA-399FD15E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83F41-3214-41CF-B41C-69D19CAC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44075-58FF-4C81-87B0-D50D9E27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5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B6647-D326-4648-9596-D13F105F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D0C4-7E74-41A5-A474-6436B2FE2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840A6-A50E-404F-8011-5DB6AC6B8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EB156-1B35-4C27-8856-AEBC33EAD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4991F-7C6D-4E5F-B0C8-BD69061C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6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312F-9CF3-459A-8D04-7A5D7AB9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E103C-1F41-403C-A83F-E6B5C102C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B85A8-49B4-47FC-A697-DAF0B5AD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3E59-203C-4A36-93A4-DE20012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3F3A4-5E31-4DEA-B4CF-267452AF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3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3726-F653-4A04-9BC3-BE1542B1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B6B3A-352C-413E-9EDD-9E3559EB2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C481D-5A52-4D60-800D-02F5EA152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ABE34-848D-4CE0-A339-CF771B963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E6153-9C3C-4CE7-B0D3-4380DFD1F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187D-6234-493B-BF78-C9CDB8B8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0D79-FA62-4F8F-9B12-17763F15D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D443C-831A-432D-AC5D-7604B2BA8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BD311-1C44-4620-86B7-9069E881F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DD639-6EBA-4E69-A5BC-44D1335F1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4CDBA-1EE7-4301-A05C-C56C1E66E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CCAEF-71CD-4B29-92A3-4D690C55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4C5177-2BBF-4838-8F14-641C04E6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E6B74-1168-438A-99E9-4A2DFFA8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6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555C-6D37-4E70-ACDE-6E989E14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97245-4660-4AB4-855E-0C5ABBC7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9DA2B-9CA5-45A9-BEF7-51EDC4BB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84D89-F1BE-4DF3-8E0C-B8C9A2A4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4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34734-0362-4B98-9EB4-F431D978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69B41-21C6-4315-B208-0445EA74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780C6-EF82-4827-B2CF-88D19AA9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11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954E-52BB-4740-9991-98D0ECBED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A7E53-4842-49F1-96B0-B6887A55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354A4-F8A4-476E-B3BE-DEF992A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20338-313D-456A-8AE7-4C981D95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A8871-08BF-4767-B82E-056925CD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6586B-D82B-405C-947A-743DF19B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7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CD6F-2377-44E3-B768-EDFF8A3E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4064C-0370-4DB0-BEF4-BF757AEDC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4FA9B-56EA-43A3-8C53-A7A5DFB96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84858-8D3D-401C-A21C-17B666956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90C4D-B7F6-4898-8F03-4D875164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106C6-A0E7-4E63-A7AC-E4AF3D51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1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6ED4-58FC-47F9-B9D0-5E845CF9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ED643-F5A4-4946-8E69-74F91240A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C15CC-9BE0-4B08-A439-E03BBE2A6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0837C-038A-4D8E-9609-B0E9AC0E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E52F-5ABC-4E16-B6F1-12C06F3E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2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10C59-B943-41BE-A7AB-8215E9DA2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6A7D1-61E5-48A7-8867-B40670A31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CACE5-9095-4FBB-BB81-885DE402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82F71-F461-4C76-87AC-B503ED0C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90B4-1F9C-4C34-90B7-32508E27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619444" y="6396706"/>
            <a:ext cx="513833" cy="365125"/>
          </a:xfrm>
          <a:prstGeom prst="rect">
            <a:avLst/>
          </a:prstGeom>
        </p:spPr>
        <p:txBody>
          <a:bodyPr wrap="none" lIns="91440" anchor="ctr"/>
          <a:lstStyle>
            <a:lvl1pPr algn="r"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00F813F6-91D5-DE4B-80EE-5DEC11EE8DD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>
            <a:cxnSpLocks/>
          </p:cNvCxnSpPr>
          <p:nvPr userDrawn="1"/>
        </p:nvCxnSpPr>
        <p:spPr>
          <a:xfrm>
            <a:off x="0" y="6304539"/>
            <a:ext cx="12192000" cy="19878"/>
          </a:xfrm>
          <a:prstGeom prst="line">
            <a:avLst/>
          </a:prstGeom>
          <a:ln w="190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2DE637-4404-43E8-9000-C34FAB55FA42}"/>
              </a:ext>
            </a:extLst>
          </p:cNvPr>
          <p:cNvCxnSpPr>
            <a:cxnSpLocks/>
          </p:cNvCxnSpPr>
          <p:nvPr userDrawn="1"/>
        </p:nvCxnSpPr>
        <p:spPr>
          <a:xfrm>
            <a:off x="0" y="969277"/>
            <a:ext cx="12192000" cy="0"/>
          </a:xfrm>
          <a:prstGeom prst="line">
            <a:avLst/>
          </a:prstGeom>
          <a:ln w="190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text on a white surface&#10;&#10;Description generated with high confidence">
            <a:extLst>
              <a:ext uri="{FF2B5EF4-FFF2-40B4-BE49-F238E27FC236}">
                <a16:creationId xmlns:a16="http://schemas.microsoft.com/office/drawing/2014/main" id="{0AED70CC-38DB-46CD-874E-954AFDE00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5941" y="6396706"/>
            <a:ext cx="546459" cy="4119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31356F-E4CD-8943-8AD5-3DB12840EB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294" y="6401202"/>
            <a:ext cx="2846716" cy="45679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EE3D4BF-BB54-3149-9F68-9C624223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8" y="48740"/>
            <a:ext cx="10515600" cy="870370"/>
          </a:xfrm>
        </p:spPr>
        <p:txBody>
          <a:bodyPr/>
          <a:lstStyle>
            <a:lvl1pPr>
              <a:defRPr sz="4100" b="1">
                <a:solidFill>
                  <a:srgbClr val="34006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B80364-8418-024E-B718-70AA9B469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94" y="125333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8976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9B73-D64B-4651-A049-CF4B09B582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1731" y="1328530"/>
            <a:ext cx="9402233" cy="1360488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4006E"/>
                </a:solidFill>
              </a:defRPr>
            </a:lvl1pPr>
          </a:lstStyle>
          <a:p>
            <a:pPr lvl="0"/>
            <a:r>
              <a:rPr lang="en-US" dirty="0"/>
              <a:t> Edit Master text styles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04E17B-171D-47D0-8F7D-F65FFD9BED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6753" y="5783446"/>
            <a:ext cx="5444593" cy="873667"/>
          </a:xfrm>
          <a:prstGeom prst="rect">
            <a:avLst/>
          </a:prstGeom>
        </p:spPr>
      </p:pic>
      <p:pic>
        <p:nvPicPr>
          <p:cNvPr id="4" name="Picture 3" descr="A close up of text on a white surface&#10;&#10;Description generated with high confidence">
            <a:extLst>
              <a:ext uri="{FF2B5EF4-FFF2-40B4-BE49-F238E27FC236}">
                <a16:creationId xmlns:a16="http://schemas.microsoft.com/office/drawing/2014/main" id="{5954ECE3-C9BD-4D22-A177-7306A98CCD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05110" y="5783445"/>
            <a:ext cx="1158854" cy="87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6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252199-7A8F-47F5-B408-0C27E668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6060-1AE7-4CEF-BF99-40C76365E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CEF9B-4784-4803-AFEE-6830F3BFA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55986-869E-4A62-B131-A7E7F88B69F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2E1BB-575A-4290-BD9D-128CBA7C9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0A8AA-96FF-4BEA-BF40-C7C8FC78A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2D05E-D67B-4941-9093-828D3E0F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46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p3@uw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31FD43-E624-F841-B1CF-BDC6FB790A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322" y="1093868"/>
            <a:ext cx="11559355" cy="168744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n w="12700">
                  <a:solidFill>
                    <a:schemeClr val="tx1"/>
                  </a:solidFill>
                </a:ln>
                <a:solidFill>
                  <a:srgbClr val="34006E"/>
                </a:solidFill>
              </a:rPr>
              <a:t>EE </a:t>
            </a:r>
            <a:r>
              <a:rPr lang="en-US" b="1" dirty="0">
                <a:ln w="12700">
                  <a:solidFill>
                    <a:schemeClr val="tx1"/>
                  </a:solidFill>
                </a:ln>
              </a:rPr>
              <a:t>P</a:t>
            </a:r>
            <a:r>
              <a:rPr lang="en-US" b="1" dirty="0">
                <a:ln w="12700">
                  <a:solidFill>
                    <a:schemeClr val="tx1"/>
                  </a:solidFill>
                </a:ln>
                <a:solidFill>
                  <a:srgbClr val="34006E"/>
                </a:solidFill>
              </a:rPr>
              <a:t> 564: TinyML </a:t>
            </a:r>
          </a:p>
          <a:p>
            <a:pPr algn="ctr"/>
            <a:r>
              <a:rPr lang="en-US" b="1" dirty="0">
                <a:ln w="12700">
                  <a:solidFill>
                    <a:schemeClr val="tx1"/>
                  </a:solidFill>
                </a:ln>
              </a:rPr>
              <a:t>Lab 9: Responsible AI in TinyML</a:t>
            </a:r>
            <a:endParaRPr lang="en-US" sz="100" b="1" dirty="0">
              <a:ln w="12700">
                <a:solidFill>
                  <a:schemeClr val="tx1"/>
                </a:solidFill>
              </a:ln>
              <a:solidFill>
                <a:srgbClr val="34006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6046B-AA27-D644-896E-BE01E56BC591}"/>
              </a:ext>
            </a:extLst>
          </p:cNvPr>
          <p:cNvSpPr txBox="1">
            <a:spLocks/>
          </p:cNvSpPr>
          <p:nvPr/>
        </p:nvSpPr>
        <p:spPr>
          <a:xfrm>
            <a:off x="2010284" y="3176529"/>
            <a:ext cx="7982418" cy="25876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34006E"/>
                </a:solidFill>
              </a:rPr>
              <a:t>Dept. of Electrical and Computer Engineering</a:t>
            </a:r>
          </a:p>
          <a:p>
            <a:pPr marL="0" indent="0" algn="ctr">
              <a:buNone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34006E"/>
                </a:solidFill>
              </a:rPr>
              <a:t>University of Washington</a:t>
            </a:r>
          </a:p>
          <a:p>
            <a:pPr marL="0" indent="0" algn="ctr">
              <a:buNone/>
            </a:pPr>
            <a:endParaRPr lang="en-US" sz="100" b="1" dirty="0">
              <a:ln w="0">
                <a:solidFill>
                  <a:schemeClr val="tx1"/>
                </a:solidFill>
              </a:ln>
              <a:solidFill>
                <a:srgbClr val="34006E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34006E"/>
                </a:solidFill>
              </a:rPr>
              <a:t>Instructor: Dinuka Sahabandu (</a:t>
            </a:r>
            <a:r>
              <a:rPr lang="en-US" b="1" dirty="0" err="1">
                <a:ln w="0">
                  <a:solidFill>
                    <a:schemeClr val="tx1"/>
                  </a:solidFill>
                </a:ln>
                <a:solidFill>
                  <a:srgbClr val="0432FF"/>
                </a:solidFill>
              </a:rPr>
              <a:t>sdinuka</a:t>
            </a:r>
            <a:r>
              <a:rPr lang="en-US" b="1" dirty="0" err="1">
                <a:ln w="0">
                  <a:solidFill>
                    <a:schemeClr val="tx1"/>
                  </a:solidFill>
                </a:ln>
                <a:solidFill>
                  <a:srgbClr val="0432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@uw.edu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34006E"/>
                </a:solidFill>
              </a:rPr>
              <a:t>)</a:t>
            </a:r>
          </a:p>
          <a:p>
            <a:pPr marL="0" indent="0" algn="ctr">
              <a:buNone/>
            </a:pPr>
            <a:endParaRPr lang="en-US" b="1" dirty="0">
              <a:solidFill>
                <a:srgbClr val="34006E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rgbClr val="3400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16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51E7D4A2-A31E-344F-B1CE-0EAB3C479322}"/>
              </a:ext>
            </a:extLst>
          </p:cNvPr>
          <p:cNvSpPr txBox="1">
            <a:spLocks/>
          </p:cNvSpPr>
          <p:nvPr/>
        </p:nvSpPr>
        <p:spPr>
          <a:xfrm>
            <a:off x="285777" y="304801"/>
            <a:ext cx="5058119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Today’s Lab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8AF26-5C19-4647-AECE-89E09E2EC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4619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0F813F6-91D5-DE4B-80EE-5DEC11EE8D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Arial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D36B4-30D9-35CE-F0D5-04EED17C1463}"/>
              </a:ext>
            </a:extLst>
          </p:cNvPr>
          <p:cNvSpPr txBox="1">
            <a:spLocks/>
          </p:cNvSpPr>
          <p:nvPr/>
        </p:nvSpPr>
        <p:spPr>
          <a:xfrm>
            <a:off x="166507" y="2159161"/>
            <a:ext cx="5929493" cy="4315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Both Software and Hardware Lab!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Training models using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TensorFlow-Privacy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Converting model to TensorFlow Lite format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 the model to the Arduino board </a:t>
            </a:r>
          </a:p>
        </p:txBody>
      </p:sp>
      <p:pic>
        <p:nvPicPr>
          <p:cNvPr id="1026" name="Picture 2" descr="How to ensure privacy of training data with Tensorflow Privacy?">
            <a:extLst>
              <a:ext uri="{FF2B5EF4-FFF2-40B4-BE49-F238E27FC236}">
                <a16:creationId xmlns:a16="http://schemas.microsoft.com/office/drawing/2014/main" id="{2E9F8B94-495A-D741-8635-1335F78B18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1" r="17321"/>
          <a:stretch/>
        </p:blipFill>
        <p:spPr bwMode="auto">
          <a:xfrm>
            <a:off x="5944533" y="0"/>
            <a:ext cx="62474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2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EDBC1A-59FB-4B4E-8D53-23A6511A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13F6-91D5-DE4B-80EE-5DEC11EE8DD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E74282-DF1B-42DD-AFE3-AF5444E8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Lab 9 – Software - Road Map </a:t>
            </a:r>
          </a:p>
        </p:txBody>
      </p:sp>
      <p:pic>
        <p:nvPicPr>
          <p:cNvPr id="5" name="Picture 4" descr="A close-up of a roulette wheel&#10;&#10;Description automatically generated with medium confidence">
            <a:extLst>
              <a:ext uri="{FF2B5EF4-FFF2-40B4-BE49-F238E27FC236}">
                <a16:creationId xmlns:a16="http://schemas.microsoft.com/office/drawing/2014/main" id="{7F579D8D-4700-3878-8A29-D91388939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638" y="596348"/>
            <a:ext cx="5483639" cy="61654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397B5D-422F-BA6F-8B54-8A37927EE12F}"/>
              </a:ext>
            </a:extLst>
          </p:cNvPr>
          <p:cNvSpPr txBox="1"/>
          <p:nvPr/>
        </p:nvSpPr>
        <p:spPr>
          <a:xfrm>
            <a:off x="363638" y="1213008"/>
            <a:ext cx="6385505" cy="565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Data Processing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Model training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TensorFlow-Privacy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Model Evaluation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Covert the TensorFlow model to TensorFlow Lite Micro model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Compress the model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8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22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EDBC1A-59FB-4B4E-8D53-23A6511A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13F6-91D5-DE4B-80EE-5DEC11EE8DD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E74282-DF1B-42DD-AFE3-AF5444E8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Lab 9 - Hardware - Road Map </a:t>
            </a:r>
          </a:p>
        </p:txBody>
      </p:sp>
      <p:pic>
        <p:nvPicPr>
          <p:cNvPr id="5" name="Picture 4" descr="A close-up of a roulette wheel&#10;&#10;Description automatically generated with medium confidence">
            <a:extLst>
              <a:ext uri="{FF2B5EF4-FFF2-40B4-BE49-F238E27FC236}">
                <a16:creationId xmlns:a16="http://schemas.microsoft.com/office/drawing/2014/main" id="{7F579D8D-4700-3878-8A29-D91388939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638" y="596348"/>
            <a:ext cx="5483639" cy="61654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AC4AB7-02DF-8935-ABE0-7CDC3DB86FA2}"/>
              </a:ext>
            </a:extLst>
          </p:cNvPr>
          <p:cNvSpPr txBox="1"/>
          <p:nvPr/>
        </p:nvSpPr>
        <p:spPr>
          <a:xfrm>
            <a:off x="363639" y="1245295"/>
            <a:ext cx="62004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Connect Arduino Boards to your computer</a:t>
            </a:r>
          </a:p>
          <a:p>
            <a:endParaRPr lang="en-US" sz="2800" dirty="0"/>
          </a:p>
          <a:p>
            <a:r>
              <a:rPr lang="en-US" sz="2800" dirty="0"/>
              <a:t>2. Implement converted ML model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/>
              <a:t>3. Deploy the model on to board </a:t>
            </a:r>
          </a:p>
          <a:p>
            <a:endParaRPr lang="en-US" sz="2800" dirty="0"/>
          </a:p>
          <a:p>
            <a:r>
              <a:rPr lang="en-US" sz="2800" dirty="0"/>
              <a:t>4. Open Serial Monitor and test the model</a:t>
            </a:r>
          </a:p>
        </p:txBody>
      </p:sp>
    </p:spTree>
    <p:extLst>
      <p:ext uri="{BB962C8B-B14F-4D97-AF65-F5344CB8AC3E}">
        <p14:creationId xmlns:p14="http://schemas.microsoft.com/office/powerpoint/2010/main" val="40675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84212-E188-C543-9B0F-A24592C4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13F6-91D5-DE4B-80EE-5DEC11EE8DD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D4F1F5-5A1D-B64D-AE2E-FB4F1E74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4" y="35350"/>
            <a:ext cx="12133277" cy="87037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Training the Model with Differential Privacy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8C2EA-F9A1-78B9-ADAA-38C4C689A84D}"/>
              </a:ext>
            </a:extLst>
          </p:cNvPr>
          <p:cNvSpPr txBox="1"/>
          <p:nvPr/>
        </p:nvSpPr>
        <p:spPr>
          <a:xfrm>
            <a:off x="106878" y="1025657"/>
            <a:ext cx="12026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Open EEP564-TinyML-Lab9.ipynb in Google </a:t>
            </a:r>
            <a:r>
              <a:rPr lang="en-US" sz="2400" dirty="0" err="1"/>
              <a:t>Colab</a:t>
            </a:r>
            <a:r>
              <a:rPr lang="en-US" sz="2400" dirty="0"/>
              <a:t> to train the model with differential privacy and convert it into a hex array format for deployment.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BCB2D91-98D8-338E-000F-DA24CB679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"/>
          <a:stretch/>
        </p:blipFill>
        <p:spPr>
          <a:xfrm>
            <a:off x="59378" y="1976591"/>
            <a:ext cx="8859206" cy="2285313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61A9CE0-9D64-C4C4-D165-4E3A8D371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8" y="4381841"/>
            <a:ext cx="7485495" cy="1829501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234832C9-228B-CC66-1DBB-43C7C3B6F350}"/>
              </a:ext>
            </a:extLst>
          </p:cNvPr>
          <p:cNvSpPr/>
          <p:nvPr/>
        </p:nvSpPr>
        <p:spPr>
          <a:xfrm>
            <a:off x="8520760" y="2090057"/>
            <a:ext cx="795647" cy="4121285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3E791-CD5C-836B-15D4-5022B0A96DE3}"/>
              </a:ext>
            </a:extLst>
          </p:cNvPr>
          <p:cNvSpPr txBox="1"/>
          <p:nvPr/>
        </p:nvSpPr>
        <p:spPr>
          <a:xfrm>
            <a:off x="8982403" y="3387709"/>
            <a:ext cx="32095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dirty="0"/>
              <a:t>Included in </a:t>
            </a:r>
          </a:p>
          <a:p>
            <a:pPr algn="ctr"/>
            <a:r>
              <a:rPr lang="en-US" sz="2100" dirty="0"/>
              <a:t>EEP564-TinyML-Lab9.ipynb </a:t>
            </a:r>
          </a:p>
        </p:txBody>
      </p:sp>
    </p:spTree>
    <p:extLst>
      <p:ext uri="{BB962C8B-B14F-4D97-AF65-F5344CB8AC3E}">
        <p14:creationId xmlns:p14="http://schemas.microsoft.com/office/powerpoint/2010/main" val="20199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0B387-0134-078E-FC44-90CF1BA1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1F442A-B598-8187-EF7E-E83EB822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13F6-91D5-DE4B-80EE-5DEC11EE8DD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F9984B-0E8D-4223-97B3-84C938FA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4" y="35350"/>
            <a:ext cx="12133277" cy="87037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Deploying the Model with Differential Privacy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C09BDD5-2022-87EA-5307-123913317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53" y="1074247"/>
            <a:ext cx="9192377" cy="507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2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B94D-5565-1C73-362A-E83863A6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998303-258C-A8A0-00BE-03F49DB0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13F6-91D5-DE4B-80EE-5DEC11EE8DD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317DB8-1AC2-907E-2821-CC2CEBD1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4" y="35350"/>
            <a:ext cx="12133277" cy="87037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Lab 9 Canvas Submission Details</a:t>
            </a:r>
          </a:p>
        </p:txBody>
      </p:sp>
      <p:pic>
        <p:nvPicPr>
          <p:cNvPr id="5" name="Picture 4" descr="A screenshot of a test results&#10;&#10;Description automatically generated">
            <a:extLst>
              <a:ext uri="{FF2B5EF4-FFF2-40B4-BE49-F238E27FC236}">
                <a16:creationId xmlns:a16="http://schemas.microsoft.com/office/drawing/2014/main" id="{E02855B7-5995-D23E-1053-A0A9F699D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4" y="999603"/>
            <a:ext cx="8087096" cy="530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7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7317</TotalTime>
  <Words>185</Words>
  <Application>Microsoft Macintosh PowerPoint</Application>
  <PresentationFormat>Widescreen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Lab 9 – Software - Road Map </vt:lpstr>
      <vt:lpstr>Lab 9 - Hardware - Road Map </vt:lpstr>
      <vt:lpstr>Training the Model with Differential Privacy</vt:lpstr>
      <vt:lpstr>Deploying the Model with Differential Privacy</vt:lpstr>
      <vt:lpstr>Lab 9 Canvas Submission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Kavya Balasubramanian</dc:creator>
  <cp:lastModifiedBy>QIFAN LU</cp:lastModifiedBy>
  <cp:revision>497</cp:revision>
  <dcterms:created xsi:type="dcterms:W3CDTF">2023-03-15T21:05:11Z</dcterms:created>
  <dcterms:modified xsi:type="dcterms:W3CDTF">2026-05-27T05:11:22Z</dcterms:modified>
</cp:coreProperties>
</file>